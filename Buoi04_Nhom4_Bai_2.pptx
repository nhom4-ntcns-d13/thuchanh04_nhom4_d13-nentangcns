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7" r:id="rId1"/>
  </p:sldMasterIdLst>
  <p:notesMasterIdLst>
    <p:notesMasterId r:id="rId16"/>
  </p:notesMasterIdLst>
  <p:handoutMasterIdLst>
    <p:handoutMasterId r:id="rId17"/>
  </p:handoutMasterIdLst>
  <p:sldIdLst>
    <p:sldId id="274" r:id="rId2"/>
    <p:sldId id="257" r:id="rId3"/>
    <p:sldId id="275" r:id="rId4"/>
    <p:sldId id="276" r:id="rId5"/>
    <p:sldId id="277" r:id="rId6"/>
    <p:sldId id="278" r:id="rId7"/>
    <p:sldId id="279" r:id="rId8"/>
    <p:sldId id="281" r:id="rId9"/>
    <p:sldId id="282" r:id="rId10"/>
    <p:sldId id="280" r:id="rId11"/>
    <p:sldId id="284" r:id="rId12"/>
    <p:sldId id="285" r:id="rId13"/>
    <p:sldId id="283" r:id="rId14"/>
    <p:sldId id="286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custDataLst>
    <p:tags r:id="rId18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6" autoAdjust="0"/>
    <p:restoredTop sz="94686" autoAdjust="0"/>
  </p:normalViewPr>
  <p:slideViewPr>
    <p:cSldViewPr>
      <p:cViewPr>
        <p:scale>
          <a:sx n="66" d="100"/>
          <a:sy n="66" d="100"/>
        </p:scale>
        <p:origin x="744" y="31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8C12F-12CB-42E4-9B4D-1FD426B5595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51798-4026-4AC7-A06D-F7ED1CF3B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816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AEE83-BF55-4BFE-AEE0-11E5965AC81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CB12D-847B-4049-A467-9B77F8179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82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CB12D-847B-4049-A467-9B77F81791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20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CB12D-847B-4049-A467-9B77F81791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2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7"/>
            <a:ext cx="8689976" cy="2509213"/>
          </a:xfrm>
        </p:spPr>
        <p:txBody>
          <a:bodyPr anchor="b">
            <a:normAutofit/>
          </a:bodyPr>
          <a:lstStyle>
            <a:lvl1pPr algn="ctr">
              <a:defRPr sz="5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2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Gi</a:t>
            </a:r>
            <a:r>
              <a:rPr lang="vi-VN"/>
              <a:t>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D18FBF3-15EE-4D66-BBBD-417AD3B7187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929" y="748407"/>
            <a:ext cx="1473374" cy="1104759"/>
          </a:xfrm>
          <a:prstGeom prst="rect">
            <a:avLst/>
          </a:prstGeom>
          <a:effectLst>
            <a:glow>
              <a:schemeClr val="accent1"/>
            </a:glo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82875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62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449" y="678841"/>
            <a:ext cx="10364451" cy="1596177"/>
          </a:xfrm>
        </p:spPr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10363827" cy="3424107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Font typeface="Times New Roman" panose="02020603050405020304" pitchFamily="18" charset="0"/>
              <a:buChar char="-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buFont typeface="Times New Roman" panose="02020603050405020304" pitchFamily="18" charset="0"/>
              <a:buChar char="+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buFont typeface="Wingdings" panose="05000000000000000000" pitchFamily="2" charset="2"/>
              <a:buChar char="ü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 b="1">
                <a:latin typeface="+mj-lt"/>
              </a:defRPr>
            </a:lvl1pPr>
          </a:lstStyle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1012E05-F211-425B-9E87-C5267AAD67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7ED9B-8556-D4E5-55D6-2BDDFFABD3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929" y="748407"/>
            <a:ext cx="1473374" cy="1104759"/>
          </a:xfrm>
          <a:prstGeom prst="rect">
            <a:avLst/>
          </a:prstGeom>
          <a:effectLst>
            <a:glow>
              <a:schemeClr val="accent1"/>
            </a:glo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7660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5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9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A182F-9307-4218-A7A9-4B17C45231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6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51060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4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DC172-AF92-41FF-9A12-9AF8D80B70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13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5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5" y="3051014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4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5284-EBCB-4F62-8CB9-5EDB9EC31A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F2134-1270-49B7-B78B-0E3B8187AA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0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83D51-E84D-44DF-9D1B-A4C8DBB420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0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3" y="609602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E5924-9DA6-4B78-AF5D-305F2DBC25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16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609600"/>
            <a:ext cx="5506157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72361" y="609601"/>
            <a:ext cx="400780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4"/>
            <a:ext cx="550613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64C2-11D5-4BED-8FD4-AE1F7A2D56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4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5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1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55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872589"/>
            <a:ext cx="9302752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372798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83501" y="887859"/>
            <a:ext cx="729184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6841" y="3120015"/>
            <a:ext cx="7381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2056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3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89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5" y="2943357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7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9" y="2943357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68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5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6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6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6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2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300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9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80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91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5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7AFA-3AA1-48E8-83F5-92F84D7885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41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09603"/>
            <a:ext cx="2553327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3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3B9C-969A-4235-A44C-6BF2792E62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5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5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7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71B45B8-F3CA-4E9C-AEB2-9572185371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22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  <p:sldLayoutId id="2147484086" r:id="rId9"/>
    <p:sldLayoutId id="2147484087" r:id="rId10"/>
    <p:sldLayoutId id="2147484088" r:id="rId11"/>
    <p:sldLayoutId id="2147484089" r:id="rId12"/>
    <p:sldLayoutId id="2147484090" r:id="rId13"/>
    <p:sldLayoutId id="2147484091" r:id="rId14"/>
    <p:sldLayoutId id="2147484092" r:id="rId15"/>
    <p:sldLayoutId id="2147484093" r:id="rId16"/>
    <p:sldLayoutId id="2147484094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rgbClr val="000000"/>
          </a:solidFill>
          <a:latin typeface="Times New Roman" pitchFamily="18" charset="0"/>
          <a:ea typeface="Times New Roman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buClr>
          <a:srgbClr val="000000"/>
        </a:buClr>
        <a:buFont typeface="Arial"/>
        <a:buChar char="●"/>
        <a:defRPr sz="3200" b="0" kern="1200" cap="all" baseline="0">
          <a:solidFill>
            <a:srgbClr val="000000"/>
          </a:solidFill>
          <a:latin typeface="Times New Roman" pitchFamily="18" charset="0"/>
          <a:ea typeface="Times New Roman"/>
          <a:cs typeface="Times New Roman" pitchFamily="18" charset="0"/>
        </a:defRPr>
      </a:lvl1pPr>
      <a:lvl2pPr marL="742950" indent="-342900" algn="l" defTabSz="914400" rtl="0" eaLnBrk="1" latinLnBrk="0" hangingPunct="1">
        <a:lnSpc>
          <a:spcPct val="100000"/>
        </a:lnSpc>
        <a:spcBef>
          <a:spcPct val="20000"/>
        </a:spcBef>
        <a:buClr>
          <a:srgbClr val="000000"/>
        </a:buClr>
        <a:buFont typeface="Times New Roman"/>
        <a:buChar char="-"/>
        <a:defRPr sz="2800" b="0" kern="1200" cap="all" baseline="0">
          <a:solidFill>
            <a:srgbClr val="000000"/>
          </a:solidFill>
          <a:latin typeface="Times New Roman" pitchFamily="18" charset="0"/>
          <a:ea typeface="Times New Roman"/>
          <a:cs typeface="Times New Roman" pitchFamily="18" charset="0"/>
        </a:defRPr>
      </a:lvl2pPr>
      <a:lvl3pPr marL="1143000" indent="-342900" algn="l" defTabSz="914400" rtl="0" eaLnBrk="1" latinLnBrk="0" hangingPunct="1">
        <a:lnSpc>
          <a:spcPct val="100000"/>
        </a:lnSpc>
        <a:spcBef>
          <a:spcPct val="20000"/>
        </a:spcBef>
        <a:buClr>
          <a:srgbClr val="000000"/>
        </a:buClr>
        <a:buFont typeface="Times New Roman"/>
        <a:buChar char="+"/>
        <a:defRPr sz="2400" b="0" kern="1200" cap="all" baseline="0">
          <a:solidFill>
            <a:srgbClr val="000000"/>
          </a:solidFill>
          <a:latin typeface="Times New Roman" pitchFamily="18" charset="0"/>
          <a:ea typeface="Times New Roman"/>
          <a:cs typeface="Times New Roman" pitchFamily="18" charset="0"/>
        </a:defRPr>
      </a:lvl3pPr>
      <a:lvl4pPr marL="1543050" indent="-342900" algn="l" defTabSz="914400" rtl="0" eaLnBrk="1" latinLnBrk="0" hangingPunct="1">
        <a:lnSpc>
          <a:spcPct val="100000"/>
        </a:lnSpc>
        <a:spcBef>
          <a:spcPct val="20000"/>
        </a:spcBef>
        <a:buClr>
          <a:srgbClr val="000000"/>
        </a:buClr>
        <a:buFont typeface="Wingdings"/>
        <a:buChar char="§"/>
        <a:defRPr sz="2200" b="0" kern="1200" cap="all" baseline="0">
          <a:solidFill>
            <a:srgbClr val="000000"/>
          </a:solidFill>
          <a:latin typeface="Times New Roman" pitchFamily="18" charset="0"/>
          <a:ea typeface="Times New Roman"/>
          <a:cs typeface="Times New Roman" pitchFamily="18" charset="0"/>
        </a:defRPr>
      </a:lvl4pPr>
      <a:lvl5pPr marL="1943100" indent="-342900" algn="l" defTabSz="914400" rtl="0" eaLnBrk="1" latinLnBrk="0" hangingPunct="1">
        <a:lnSpc>
          <a:spcPct val="100000"/>
        </a:lnSpc>
        <a:spcBef>
          <a:spcPct val="20000"/>
        </a:spcBef>
        <a:buClr>
          <a:srgbClr val="000000"/>
        </a:buClr>
        <a:buFont typeface="Wingdings"/>
        <a:buChar char="ü"/>
        <a:defRPr sz="2000" b="0" kern="1200" cap="all" baseline="0">
          <a:solidFill>
            <a:srgbClr val="000000"/>
          </a:solidFill>
          <a:latin typeface="Times New Roman" pitchFamily="18" charset="0"/>
          <a:ea typeface="Times New Roman"/>
          <a:cs typeface="Times New Roman" pitchFamily="18" charset="0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0" name="Rectangle 8"/>
          <p:cNvSpPr>
            <a:spLocks noGrp="1" noChangeArrowheads="1"/>
          </p:cNvSpPr>
          <p:nvPr>
            <p:ph type="ctrTitle"/>
          </p:nvPr>
        </p:nvSpPr>
        <p:spPr>
          <a:xfrm>
            <a:off x="2847323" y="1064251"/>
            <a:ext cx="6517482" cy="2509213"/>
          </a:xfrm>
        </p:spPr>
        <p:txBody>
          <a:bodyPr>
            <a:normAutofit/>
          </a:bodyPr>
          <a:lstStyle/>
          <a:p>
            <a:r>
              <a:rPr lang="vi-VN" sz="4000"/>
              <a:t>ĐẠI HỌC CẦN THƠ – QUÁ TRÌNH HÌNH THÀNH VÀ PHÁT TRIỂN</a:t>
            </a:r>
            <a:endParaRPr lang="en-GB" sz="4000" dirty="0"/>
          </a:p>
        </p:txBody>
      </p:sp>
      <p:sp>
        <p:nvSpPr>
          <p:cNvPr id="44041" name="Rectangle 9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/>
              <a:t>TS. NGUYỄN VĂN A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</a:t>
            </a:r>
            <a:r>
              <a:rPr lang="vi-VN"/>
              <a:t>ới thiệu Đại học Cần Thơ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BF3-15EE-4D66-BBBD-417AD3B7187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NỘI DUNG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THỜI KỲ VIỆN ĐẠI HỌC CẦN THƠ (1966 - 1975)</a:t>
            </a:r>
          </a:p>
          <a:p>
            <a:r>
              <a:rPr lang="vi-VN" b="1" dirty="0"/>
              <a:t>ĐHCT GIAI ĐOẠN SAU NĂM 1975</a:t>
            </a:r>
            <a:endParaRPr lang="en-US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decel="1000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(1966 - 1975)</a:t>
            </a:r>
            <a:br>
              <a:rPr lang="vi-VN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ĐƯỢC THÀNH LẬP NGÀY 31 THÁNG 03 NĂM 1966</a:t>
            </a:r>
          </a:p>
          <a:p>
            <a:r>
              <a:rPr lang="vi-VN" dirty="0"/>
              <a:t>VIỆN ĐẠI HỌC CẦN THƠ CÓ BỐN KHOA:</a:t>
            </a:r>
          </a:p>
          <a:p>
            <a:pPr lvl="1"/>
            <a:r>
              <a:rPr lang="vi-VN" dirty="0"/>
              <a:t>KHOA HỌC</a:t>
            </a:r>
          </a:p>
          <a:p>
            <a:pPr lvl="1"/>
            <a:r>
              <a:rPr lang="vi-VN" dirty="0"/>
              <a:t>LUẬT KHOA </a:t>
            </a:r>
          </a:p>
          <a:p>
            <a:pPr lvl="1"/>
            <a:r>
              <a:rPr lang="vi-VN" dirty="0"/>
              <a:t>KHOA HỌC XÃ HỘI, VĂN KHOA, SƯ PHẠM</a:t>
            </a:r>
          </a:p>
          <a:p>
            <a:pPr lvl="1"/>
            <a:r>
              <a:rPr lang="vi-VN" dirty="0"/>
              <a:t>CAO ĐẲNG NÔNG NGHIỆP VÀ TRUNG TÂM SINH NGỮ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11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4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4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9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4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(1966 - 1975)</a:t>
            </a:r>
            <a:br>
              <a:rPr lang="vi-VN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CƠ SỞ VẬT CHẤT CỦA VIỆN ĐẠI HỌC CẦN THƠ TỌA LẠC TRÊN 4 ĐỊA ĐIỂM </a:t>
            </a:r>
          </a:p>
          <a:p>
            <a:pPr lvl="1"/>
            <a:r>
              <a:rPr lang="vi-VN" dirty="0"/>
              <a:t>TÒA VIỆN TRƯỜNG (SỐ 5, ĐẠI LỘ HÒA BÌNH)</a:t>
            </a:r>
          </a:p>
          <a:p>
            <a:pPr lvl="1"/>
            <a:r>
              <a:rPr lang="vi-VN" dirty="0"/>
              <a:t>KHU I (ĐƯỜNG 30/4)</a:t>
            </a:r>
          </a:p>
          <a:p>
            <a:pPr lvl="1"/>
            <a:r>
              <a:rPr lang="vi-VN" dirty="0"/>
              <a:t>KHU </a:t>
            </a:r>
            <a:r>
              <a:rPr lang="vi-VN" dirty="0" err="1"/>
              <a:t>II</a:t>
            </a:r>
            <a:r>
              <a:rPr lang="vi-VN" dirty="0"/>
              <a:t> (ĐƯỜNG 3/2)</a:t>
            </a:r>
          </a:p>
          <a:p>
            <a:pPr lvl="1"/>
            <a:r>
              <a:rPr lang="vi-VN" dirty="0"/>
              <a:t>KHU </a:t>
            </a:r>
            <a:r>
              <a:rPr lang="vi-VN" dirty="0" err="1"/>
              <a:t>III</a:t>
            </a:r>
            <a:r>
              <a:rPr lang="vi-VN" dirty="0"/>
              <a:t> (SỐ 1, LÝ TỰ TRỌNG)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05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VIỆN ĐẠI HỌC CẦN THƠ ĐƯỢC ĐỔI THÀNH ĐHCT</a:t>
            </a:r>
          </a:p>
          <a:p>
            <a:r>
              <a:rPr lang="vi-VN" dirty="0"/>
              <a:t>CƠ CẤU ĐHCT HIỆN NAY</a:t>
            </a:r>
          </a:p>
          <a:p>
            <a:pPr lvl="1"/>
            <a:r>
              <a:rPr lang="vi-VN" dirty="0"/>
              <a:t>KHOA - VIỆN </a:t>
            </a:r>
          </a:p>
          <a:p>
            <a:pPr lvl="1"/>
            <a:r>
              <a:rPr lang="vi-VN" dirty="0"/>
              <a:t>TRUNG TÂM - TRUNG TÂM ĐÀO TẠO</a:t>
            </a:r>
          </a:p>
          <a:p>
            <a:pPr lvl="1"/>
            <a:r>
              <a:rPr lang="vi-VN" dirty="0"/>
              <a:t>PHÒNG BAN CHỨC NĂNG </a:t>
            </a:r>
          </a:p>
          <a:p>
            <a:pPr lvl="1"/>
            <a:r>
              <a:rPr lang="vi-VN" dirty="0"/>
              <a:t>ĐOÀN THỂ &amp; HỘI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2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</a:t>
            </a:r>
            <a:r>
              <a:rPr lang="vi-VN" b="1" dirty="0" err="1">
                <a:solidFill>
                  <a:srgbClr val="FF0000"/>
                </a:solidFill>
              </a:rPr>
              <a:t>KHOA</a:t>
            </a:r>
            <a:r>
              <a:rPr lang="vi-VN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vi-VN" dirty="0"/>
              <a:t>NGÀY 14/1/1998, TRƯỜNG ĐHCT KHÁNH THÀNH KHOA </a:t>
            </a:r>
            <a:r>
              <a:rPr lang="vi-VN" dirty="0" err="1"/>
              <a:t>KHOA</a:t>
            </a:r>
            <a:r>
              <a:rPr lang="vi-VN" dirty="0"/>
              <a:t> HỌC</a:t>
            </a:r>
          </a:p>
          <a:p>
            <a:pPr lvl="1"/>
            <a:r>
              <a:rPr lang="vi-VN" dirty="0"/>
              <a:t>CƠ SỞ VẬT CHẤT</a:t>
            </a:r>
          </a:p>
          <a:p>
            <a:pPr lvl="2"/>
            <a:r>
              <a:rPr lang="vi-VN" dirty="0"/>
              <a:t>12 PHÒNG THÍ NGHIỆM (PTN) CHO SINH, HÓA, VẬT LÝ </a:t>
            </a:r>
          </a:p>
          <a:p>
            <a:pPr lvl="2"/>
            <a:r>
              <a:rPr lang="vi-VN" dirty="0"/>
              <a:t>06 PHÒNG MÁY TÍNH ĐƯỢC NỐI MẠNG VỚI NHAU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>
                <a:solidFill>
                  <a:prstClr val="black"/>
                </a:solidFill>
              </a:rPr>
              <a:t>Giới thiệu Đại học Cần Thơ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90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</a:t>
            </a:r>
            <a:r>
              <a:rPr lang="vi-VN" b="1" dirty="0" err="1">
                <a:solidFill>
                  <a:srgbClr val="FF0000"/>
                </a:solidFill>
              </a:rPr>
              <a:t>KHOA</a:t>
            </a:r>
            <a:r>
              <a:rPr lang="vi-VN" b="1" dirty="0">
                <a:solidFill>
                  <a:srgbClr val="FF0000"/>
                </a:solidFill>
              </a:rPr>
              <a:t> HỌC TỰ NHIÊN </a:t>
            </a:r>
          </a:p>
          <a:p>
            <a:pPr lvl="1"/>
            <a:r>
              <a:rPr lang="vi-VN" dirty="0"/>
              <a:t>CƠ SỞ VẬT CHẤT</a:t>
            </a:r>
          </a:p>
          <a:p>
            <a:pPr lvl="2"/>
            <a:r>
              <a:rPr lang="vi-VN" dirty="0"/>
              <a:t>VP KHOA VÀ XƯỞNG SỬA CHỮA</a:t>
            </a:r>
          </a:p>
          <a:p>
            <a:pPr lvl="2"/>
            <a:r>
              <a:rPr lang="vi-VN" dirty="0"/>
              <a:t>NĂM 2010, TRƯỜNG ĐÃ ĐẦU TƯ MỞ RỘNG KHU PTN CỦA KHOA </a:t>
            </a:r>
          </a:p>
          <a:p>
            <a:pPr lvl="2"/>
            <a:r>
              <a:rPr lang="vi-VN" dirty="0"/>
              <a:t>XÂY MỚI KHU NHÀ 3 TẦNG VỚI 22 PHÒNG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>
                <a:solidFill>
                  <a:prstClr val="black"/>
                </a:solidFill>
              </a:rPr>
              <a:t>Giới thiệu Đại học Cần Thơ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80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  <a:endParaRPr lang="vi-VN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KHOA KHTN HIỆN NAY GỒM 04 BỘ MÔN</a:t>
            </a:r>
            <a:endParaRPr lang="vi-VN" dirty="0"/>
          </a:p>
          <a:p>
            <a:pPr lvl="2"/>
            <a:r>
              <a:rPr lang="en-US" dirty="0"/>
              <a:t>BỘ MÔN SINH HỌC</a:t>
            </a:r>
            <a:endParaRPr lang="vi-VN" dirty="0"/>
          </a:p>
          <a:p>
            <a:pPr lvl="2"/>
            <a:r>
              <a:rPr lang="en-US" dirty="0"/>
              <a:t>BỘ MÔN HÓA HỌC</a:t>
            </a:r>
            <a:endParaRPr lang="vi-VN" dirty="0"/>
          </a:p>
          <a:p>
            <a:pPr lvl="2"/>
            <a:r>
              <a:rPr lang="en-US" dirty="0"/>
              <a:t>BỘ MÔN TOÁN HỌC</a:t>
            </a:r>
            <a:endParaRPr lang="vi-VN" dirty="0"/>
          </a:p>
          <a:p>
            <a:pPr lvl="2"/>
            <a:r>
              <a:rPr lang="en-US" dirty="0"/>
              <a:t>BỘ MÔN VẬT LÝ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>
                <a:solidFill>
                  <a:prstClr val="black"/>
                </a:solidFill>
              </a:rPr>
              <a:t>Giới thiệu Đại học Cần Thơ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54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</a:t>
            </a:r>
            <a:r>
              <a:rPr lang="vi-VN" b="1" dirty="0" err="1">
                <a:solidFill>
                  <a:srgbClr val="FF0000"/>
                </a:solidFill>
              </a:rPr>
              <a:t>KHOA</a:t>
            </a:r>
            <a:r>
              <a:rPr lang="vi-VN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vi-VN" dirty="0"/>
              <a:t>CÔNG TÁC ĐÀO TẠO</a:t>
            </a:r>
          </a:p>
          <a:p>
            <a:pPr lvl="2"/>
            <a:r>
              <a:rPr lang="vi-VN" dirty="0"/>
              <a:t>ĐẠI HỌC:......</a:t>
            </a:r>
          </a:p>
          <a:p>
            <a:pPr lvl="2"/>
            <a:r>
              <a:rPr lang="vi-VN" dirty="0"/>
              <a:t>SĐH:.......</a:t>
            </a:r>
          </a:p>
          <a:p>
            <a:pPr lvl="1"/>
            <a:r>
              <a:rPr lang="vi-VN" dirty="0"/>
              <a:t>CÔNG TÁC NCKH, BÁO CÁO CHUYÊN ĐỀ:.....</a:t>
            </a:r>
          </a:p>
          <a:p>
            <a:pPr lvl="1"/>
            <a:r>
              <a:rPr lang="vi-VN" dirty="0"/>
              <a:t>CÔNG TÁC ĐÀO TẠO VÀ BỒI DƯỠNG CÁN BỘ:.....</a:t>
            </a:r>
          </a:p>
          <a:p>
            <a:pPr lvl="1"/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>
                <a:solidFill>
                  <a:prstClr val="black"/>
                </a:solidFill>
              </a:rPr>
              <a:t>Giới thiệu Đại học Cần Thơ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47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hlinkClick r:id="rId2"/>
              </a:rPr>
              <a:t>KHOA CNTT&amp;TT</a:t>
            </a:r>
            <a:endParaRPr lang="vi-VN" b="1" dirty="0"/>
          </a:p>
          <a:p>
            <a:pPr lvl="1"/>
            <a:r>
              <a:rPr lang="vi-VN" dirty="0"/>
              <a:t>ĐƯỢC THÀNH LẬP NĂM 1994 TRÊN CƠ SỞ TRUNG TÂM ĐIỆN TỬ VÀ TIN HỌC</a:t>
            </a:r>
          </a:p>
          <a:p>
            <a:pPr lvl="1"/>
            <a:r>
              <a:rPr lang="vi-VN" dirty="0"/>
              <a:t>NHIỆM VỤ CỦA KHOA LÀ ĐÀO TẠO </a:t>
            </a:r>
          </a:p>
          <a:p>
            <a:pPr lvl="2"/>
            <a:r>
              <a:rPr lang="vi-VN" dirty="0"/>
              <a:t>ĐẠI HỌC VÀ SAU ĐẠI HỌC</a:t>
            </a:r>
          </a:p>
          <a:p>
            <a:pPr lvl="2"/>
            <a:r>
              <a:rPr lang="vi-VN" dirty="0"/>
              <a:t>NCKH VÀ CHUYỂN GIAO CÔNG NGHỆ TRONG LĨNH VỰC CNTT&amp;TT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>
                <a:solidFill>
                  <a:prstClr val="black"/>
                </a:solidFill>
              </a:rPr>
              <a:t>Giới thiệu Đại học Cần Thơ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29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vi-VN" dirty="0"/>
              <a:t>TẦM NHÌN ĐẾN NĂM 2020</a:t>
            </a:r>
          </a:p>
          <a:p>
            <a:pPr lvl="2"/>
            <a:r>
              <a:rPr lang="vi-VN" dirty="0"/>
              <a:t>ĐƠN VỊ ĐÀO TẠO VÀ NGHIÊN CỨU KHOA HỌC VỀ CNTT&amp;TT MẠNH CỦA CẢ NƯỚC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>
                <a:solidFill>
                  <a:prstClr val="black"/>
                </a:solidFill>
              </a:rPr>
              <a:t>Giới thiệu Đại học Cần Thơ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28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KHOA CNTT &amp; TT</a:t>
            </a:r>
            <a:endParaRPr lang="vi-VN" b="1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CÁC BỘ MÔN VÀ TRUNG TÂM</a:t>
            </a:r>
            <a:endParaRPr lang="vi-VN" dirty="0"/>
          </a:p>
          <a:p>
            <a:pPr lvl="2"/>
            <a:r>
              <a:rPr lang="en-US" dirty="0"/>
              <a:t>BỘ MÔN HỆ THỐNG THÔNG TIN</a:t>
            </a:r>
            <a:endParaRPr lang="vi-VN" dirty="0"/>
          </a:p>
          <a:p>
            <a:pPr lvl="2"/>
            <a:r>
              <a:rPr lang="en-US" dirty="0"/>
              <a:t>BỘ MÔN MẠNG MÁY TÍNH &amp; TRUYỀN THÔNG</a:t>
            </a:r>
            <a:endParaRPr lang="vi-VN" dirty="0"/>
          </a:p>
          <a:p>
            <a:pPr lvl="2"/>
            <a:r>
              <a:rPr lang="en-US" dirty="0"/>
              <a:t>BỘ MÔN CÔNG NGHỆ PHẦN MỀM</a:t>
            </a:r>
            <a:endParaRPr lang="vi-VN" dirty="0"/>
          </a:p>
          <a:p>
            <a:pPr lvl="2"/>
            <a:r>
              <a:rPr lang="en-US" dirty="0"/>
              <a:t>BỘ MÔN KHOA HỌC MÁY TÍNH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>
                <a:solidFill>
                  <a:prstClr val="black"/>
                </a:solidFill>
              </a:rPr>
              <a:t>Giới thiệu Đại học Cần Thơ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62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KHOA CNTT &amp; TT</a:t>
            </a:r>
            <a:endParaRPr lang="vi-VN" b="1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CÁC BỘ MÔN VÀ TRUNG TÂM</a:t>
            </a:r>
            <a:endParaRPr lang="vi-VN" dirty="0"/>
          </a:p>
          <a:p>
            <a:pPr lvl="2"/>
            <a:r>
              <a:rPr lang="en-US" dirty="0"/>
              <a:t>BỘ MÔN CÔNG NGHỆ THÔNG TIN</a:t>
            </a:r>
            <a:endParaRPr lang="vi-VN" dirty="0"/>
          </a:p>
          <a:p>
            <a:pPr lvl="2"/>
            <a:r>
              <a:rPr lang="en-US" dirty="0"/>
              <a:t>BỘ MÔN TIN HỌC ỨNG DỤNG</a:t>
            </a:r>
            <a:endParaRPr lang="vi-VN" dirty="0"/>
          </a:p>
          <a:p>
            <a:pPr lvl="2"/>
            <a:r>
              <a:rPr lang="en-US" dirty="0"/>
              <a:t>TỔ VĂN PHÒNG</a:t>
            </a:r>
            <a:endParaRPr lang="vi-VN" dirty="0"/>
          </a:p>
          <a:p>
            <a:pPr lvl="2"/>
            <a:r>
              <a:rPr lang="en-US" dirty="0"/>
              <a:t>TRUNG TÂM ĐIỆN TỬ &amp; TIN HỌC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6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>
                <a:solidFill>
                  <a:prstClr val="black"/>
                </a:solidFill>
              </a:rPr>
              <a:t>Giới thiệu Đại học Cần Thơ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218857" y="2514601"/>
            <a:ext cx="7773338" cy="1596177"/>
          </a:xfrm>
        </p:spPr>
        <p:txBody>
          <a:bodyPr/>
          <a:lstStyle/>
          <a:p>
            <a:r>
              <a:rPr lang="vi-VN"/>
              <a:t>CẢM ƠN SỰ CHÚ Ý CỦA QUÝ VỊ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916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71dc0f35d96c5be93123f654c3aa2dafa54bd3"/>
</p:tagLst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TC104033925[[fn=Droplet]]</Template>
  <TotalTime>133</TotalTime>
  <Words>628</Words>
  <Application>Microsoft Office PowerPoint</Application>
  <PresentationFormat>Widescreen</PresentationFormat>
  <Paragraphs>106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(1996 - 1975) </vt:lpstr>
      <vt:lpstr>THỜI KỲ VIỆN ĐẠI HỌC CẦN THƠ (1996 - 1975) 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KHTN</vt:lpstr>
      <vt:lpstr>CNTT</vt:lpstr>
    </vt:vector>
  </TitlesOfParts>
  <Company>HillsOrient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Geetesh Bajaj</dc:creator>
  <cp:lastModifiedBy>Minh Huy Hồ Nguyễn</cp:lastModifiedBy>
  <cp:revision>93</cp:revision>
  <dcterms:created xsi:type="dcterms:W3CDTF">2001-08-06T05:40:35Z</dcterms:created>
  <dcterms:modified xsi:type="dcterms:W3CDTF">2026-09-24T03:27:33Z</dcterms:modified>
</cp:coreProperties>
</file>